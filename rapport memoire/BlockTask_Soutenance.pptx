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BlockTask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Plateforme hybride de délégation sécurisée de tâches physiques — cas du Mali</a:t>
            </a:r>
          </a:p>
          <a:p/>
          <a:p>
            <a:r>
              <a:t>Soutenance de mémoire de fin d'études — Master ILSI</a:t>
            </a:r>
          </a:p>
        </p:txBody>
      </p:sp>
      <p:pic>
        <p:nvPicPr>
          <p:cNvPr id="4" name="Picture 3" descr="logo-blocktask-ma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74320"/>
            <a:ext cx="1645920" cy="11934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et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Économie à la tâche au Mali : encore largement informelle</a:t>
            </a:r>
          </a:p>
          <a:p>
            <a:pPr>
              <a:defRPr sz="2000"/>
            </a:pPr>
            <a:r>
              <a:t>Obstacles : manque de confiance, absence d'escrow accessible, paiements internationaux inadaptés</a:t>
            </a:r>
          </a:p>
          <a:p>
            <a:pPr>
              <a:defRPr sz="2000"/>
            </a:pPr>
            <a:r>
              <a:t>Opportunité : Mobile Money (Orange Money, Moov Money) très répandu</a:t>
            </a:r>
          </a:p>
          <a:p>
            <a:pPr>
              <a:defRPr sz="2000"/>
            </a:pPr>
            <a:r>
              <a:t>Leviers locaux : FCFA (XOF), NINA, blockchain optionnelle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Comment concevoir et mettre en œuvre une plateforme numérique de délégation de tâches,</a:t>
            </a:r>
          </a:p>
          <a:p>
            <a:pPr>
              <a:defRPr sz="2000"/>
            </a:pPr>
            <a:r>
              <a:t>adaptée au contexte malien (FCFA, Mobile Money, NINA),</a:t>
            </a:r>
          </a:p>
          <a:p>
            <a:pPr>
              <a:defRPr sz="2000"/>
            </a:pPr>
            <a:r>
              <a:t>intégrant de manière hybride la blockchain pour renforcer la confiance transactionnelle,</a:t>
            </a:r>
          </a:p>
          <a:p>
            <a:pPr>
              <a:defRPr sz="2000"/>
            </a:pPr>
            <a:r>
              <a:t>tout en restant utilisable par des acteurs peu technophiles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spécifiques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OS1 — Analyser le domaine et l'état de l'art</a:t>
            </a:r>
          </a:p>
          <a:p>
            <a:pPr>
              <a:defRPr sz="2000"/>
            </a:pPr>
            <a:r>
              <a:t>OS2/OS3 — Spécifier et concevoir une architecture modulaire (UML / C4)</a:t>
            </a:r>
          </a:p>
          <a:p>
            <a:pPr>
              <a:defRPr sz="2000"/>
            </a:pPr>
            <a:r>
              <a:t>OS4 — Implémenter les espaces client, prestataire, entreprise, admin</a:t>
            </a:r>
          </a:p>
          <a:p>
            <a:pPr>
              <a:defRPr sz="2000"/>
            </a:pPr>
            <a:r>
              <a:t>OS5 — Intégrer les paiements Mobile Money en FCFA</a:t>
            </a:r>
          </a:p>
          <a:p>
            <a:pPr>
              <a:defRPr sz="2000"/>
            </a:pPr>
            <a:r>
              <a:t>OS6 — Intégrer une couche blockchain optionnelle (Solidity / Hardhat)</a:t>
            </a:r>
          </a:p>
          <a:p>
            <a:pPr>
              <a:defRPr sz="2000"/>
            </a:pPr>
            <a:r>
              <a:t>OS7 — Sécurité, KYC NINA et conformité</a:t>
            </a:r>
          </a:p>
          <a:p>
            <a:pPr>
              <a:defRPr sz="2000"/>
            </a:pPr>
            <a:r>
              <a:t>OS8 — Suivi GPS et preuves d'exécution</a:t>
            </a:r>
          </a:p>
          <a:p>
            <a:pPr>
              <a:defRPr sz="2000"/>
            </a:pPr>
            <a:r>
              <a:t>OS9/OS10 — Tester et évaluer le système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État de l'art et positionnement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Plateformes centralisées : Upwork, Fiverr, TaskRabbit</a:t>
            </a:r>
          </a:p>
          <a:p>
            <a:pPr>
              <a:defRPr sz="2000"/>
            </a:pPr>
            <a:r>
              <a:t>Limites : centralisation, commissions élevées, inadaptation au Mali</a:t>
            </a:r>
          </a:p>
          <a:p>
            <a:pPr>
              <a:defRPr sz="2000"/>
            </a:pPr>
            <a:r>
              <a:t>Plateformes décentralisées : Ethlance, Braintrust — crypto obligatoire</a:t>
            </a:r>
          </a:p>
          <a:p>
            <a:pPr>
              <a:defRPr sz="2000"/>
            </a:pPr>
            <a:r>
              <a:t>Positionnement BlockTask : hybride — Mobile Money + blockchain optionnelle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Web : Angular 17 + Material</a:t>
            </a:r>
          </a:p>
          <a:p>
            <a:pPr>
              <a:defRPr sz="2000"/>
            </a:pPr>
            <a:r>
              <a:t>Mobile : React Native + Expo SDK 52</a:t>
            </a:r>
          </a:p>
          <a:p>
            <a:pPr>
              <a:defRPr sz="2000"/>
            </a:pPr>
            <a:r>
              <a:t>Backend : Django 4.2 + DRF + PostgreSQL</a:t>
            </a:r>
          </a:p>
          <a:p>
            <a:pPr>
              <a:defRPr sz="2000"/>
            </a:pPr>
            <a:r>
              <a:t>Temps réel : Channels + Redis + Celery</a:t>
            </a:r>
          </a:p>
          <a:p>
            <a:pPr>
              <a:defRPr sz="2000"/>
            </a:pPr>
            <a:r>
              <a:t>Blockchain : Solidity + Hardhat / Sepolia</a:t>
            </a:r>
          </a:p>
          <a:p>
            <a:pPr>
              <a:defRPr sz="2000"/>
            </a:pPr>
            <a:r>
              <a:t>Déploiement : Render + Railway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828800"/>
            <a:ext cx="393192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[INSÉRER : Figure 3.3 — Diagramme de conteneurs C4]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de vie d'une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Création → Paiement escrow (FCFA)</a:t>
            </a:r>
          </a:p>
          <a:p>
            <a:pPr>
              <a:defRPr sz="2000"/>
            </a:pPr>
            <a:r>
              <a:t>Candidature → Acceptation → Caution</a:t>
            </a:r>
          </a:p>
          <a:p>
            <a:pPr>
              <a:defRPr sz="2000"/>
            </a:pPr>
            <a:r>
              <a:t>Exécution → Preuves</a:t>
            </a:r>
          </a:p>
          <a:p>
            <a:pPr>
              <a:defRPr sz="2000"/>
            </a:pPr>
            <a:r>
              <a:t>Validation → Libération fonds (95 % / 5 %)</a:t>
            </a:r>
          </a:p>
          <a:p>
            <a:pPr>
              <a:defRPr sz="2000"/>
            </a:pPr>
            <a:r>
              <a:t>Litige possible à chaque étape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828800"/>
            <a:ext cx="393192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[INSÉRER : Figure 3.1 — Diagramme d'états mission]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 clés implémentées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Auth JWT avec rôles doubles</a:t>
            </a:r>
          </a:p>
          <a:p>
            <a:pPr>
              <a:defRPr sz="2000"/>
            </a:pPr>
            <a:r>
              <a:t>KYC NINA + validation admin</a:t>
            </a:r>
          </a:p>
          <a:p>
            <a:pPr>
              <a:defRPr sz="2000"/>
            </a:pPr>
            <a:r>
              <a:t>Paiement Mobile Money sandbox</a:t>
            </a:r>
          </a:p>
          <a:p>
            <a:pPr>
              <a:defRPr sz="2000"/>
            </a:pPr>
            <a:r>
              <a:t>Caution dynamique selon réputation</a:t>
            </a:r>
          </a:p>
          <a:p>
            <a:pPr>
              <a:defRPr sz="2000"/>
            </a:pPr>
            <a:r>
              <a:t>Chat mission + 2FA TOTP</a:t>
            </a:r>
          </a:p>
          <a:p>
            <a:pPr>
              <a:defRPr sz="2000"/>
            </a:pPr>
            <a:r>
              <a:t>GPS temps réel + preuves photo</a:t>
            </a:r>
          </a:p>
          <a:p>
            <a:pPr>
              <a:defRPr sz="2000"/>
            </a:pPr>
            <a:r>
              <a:t>Analyse automatique des preuves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828800"/>
            <a:ext cx="393192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[INSÉRER : captures interfaces web / mobile]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et confiance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JWT access 1h / refresh 7j</a:t>
            </a:r>
          </a:p>
          <a:p>
            <a:pPr>
              <a:defRPr sz="2000"/>
            </a:pPr>
            <a:r>
              <a:t>Guards Angular multi-rôles</a:t>
            </a:r>
          </a:p>
          <a:p>
            <a:pPr>
              <a:defRPr sz="2000"/>
            </a:pPr>
            <a:r>
              <a:t>KYC bloquant avant accès</a:t>
            </a:r>
          </a:p>
          <a:p>
            <a:pPr>
              <a:defRPr sz="2000"/>
            </a:pPr>
            <a:r>
              <a:t>OpenZeppelin : ReentrancyGuard, Ownable, Pausable</a:t>
            </a:r>
          </a:p>
          <a:p>
            <a:pPr>
              <a:defRPr sz="2000"/>
            </a:pPr>
            <a:r>
              <a:t>Escrow FCFA verrouillé</a:t>
            </a:r>
          </a:p>
          <a:p>
            <a:pPr>
              <a:defRPr sz="2000"/>
            </a:pPr>
            <a:r>
              <a:t>WebSocket GPS authentifié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828800"/>
            <a:ext cx="393192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[INSÉRER : schéma flux JWT + KYC]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Déploiement et environnements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Développement : Docker Compose</a:t>
            </a:r>
          </a:p>
          <a:p>
            <a:pPr>
              <a:defRPr sz="2000"/>
            </a:pPr>
            <a:r>
              <a:t>Production : Render (backend + frontend)</a:t>
            </a:r>
          </a:p>
          <a:p>
            <a:pPr>
              <a:defRPr sz="2000"/>
            </a:pPr>
            <a:r>
              <a:t>Redis : WebSockets + Celery</a:t>
            </a:r>
          </a:p>
          <a:p>
            <a:pPr>
              <a:defRPr sz="2000"/>
            </a:pPr>
            <a:r>
              <a:t>Mobile : APK Android via Gradle</a:t>
            </a:r>
          </a:p>
          <a:p>
            <a:pPr>
              <a:defRPr sz="2000"/>
            </a:pPr>
            <a:r>
              <a:t>Blockchain : Sepolia + apply-config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828800"/>
            <a:ext cx="393192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[INSÉRER : Figure 3.10 — Diagramme de déploiement]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 et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11 tests backend (pytest)</a:t>
            </a:r>
          </a:p>
          <a:p>
            <a:pPr>
              <a:defRPr sz="2000"/>
            </a:pPr>
            <a:r>
              <a:t>15 tests smart contracts (Hardhat)</a:t>
            </a:r>
          </a:p>
          <a:p>
            <a:pPr>
              <a:defRPr sz="2000"/>
            </a:pPr>
            <a:r>
              <a:t>7 scénarios manuels</a:t>
            </a:r>
          </a:p>
          <a:p>
            <a:pPr>
              <a:defRPr sz="2000"/>
            </a:pPr>
            <a:r>
              <a:t>CI GitHub Actions</a:t>
            </a:r>
          </a:p>
          <a:p>
            <a:pPr>
              <a:defRPr sz="2000"/>
            </a:pPr>
            <a:r>
              <a:t>Matrice exigences ↔ tests</a:t>
            </a:r>
          </a:p>
          <a:p>
            <a:pPr>
              <a:defRPr sz="2000"/>
            </a:pPr>
            <a:r>
              <a:t>Atteinte objectifs : 80–100 %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828800"/>
            <a:ext cx="393192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[INSÉRER : Tableau 5.7 — Synthèse quantitative]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et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Modèle hybride FCFA + blockchain validé techniquement</a:t>
            </a:r>
          </a:p>
          <a:p>
            <a:pPr>
              <a:defRPr sz="2000"/>
            </a:pPr>
            <a:r>
              <a:t>Forces : contextualisation Mali, inclusion Mobile Money, traçabilité optionnelle</a:t>
            </a:r>
          </a:p>
          <a:p>
            <a:pPr>
              <a:defRPr sz="2000"/>
            </a:pPr>
            <a:r>
              <a:t>Limites : sandbox Mobile Money, testnet blockchain, pas d'audit externe</a:t>
            </a:r>
          </a:p>
          <a:p>
            <a:pPr>
              <a:defRPr sz="2000"/>
            </a:pPr>
            <a:r>
              <a:t>Pas d'étude utilisateur terrain à grande échelle</a:t>
            </a:r>
          </a:p>
          <a:p>
            <a:pPr>
              <a:defRPr sz="2000"/>
            </a:pPr>
            <a:r>
              <a:t>H1 et H3 confirmées ; H2 partiellement confirmée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Perspectives d'évolution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Court terme : API Mobile Money production, APK mobile finalisé, tests E2E</a:t>
            </a:r>
          </a:p>
          <a:p>
            <a:pPr>
              <a:defRPr sz="2000"/>
            </a:pPr>
            <a:r>
              <a:t>Moyen terme : extension UEMOA (Sénégal, Côte d'Ivoire, Burkina), oracles Chainlink, pont FCFA/stablecoin</a:t>
            </a:r>
          </a:p>
          <a:p>
            <a:pPr>
              <a:defRPr sz="2000"/>
            </a:pPr>
            <a:r>
              <a:t>Long terme : passage mainnet après audit, DAO, IA pour détection de fraude, partenariats télécoms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Connexion client / prestataire</a:t>
            </a:r>
          </a:p>
          <a:p>
            <a:pPr>
              <a:defRPr sz="1800"/>
            </a:pPr>
            <a:r>
              <a:t>Création mission + paiement Orange Money sandbox</a:t>
            </a:r>
          </a:p>
          <a:p>
            <a:pPr>
              <a:defRPr sz="1800"/>
            </a:pPr>
            <a:r>
              <a:t>Candidature, acceptation, caution</a:t>
            </a:r>
          </a:p>
          <a:p>
            <a:pPr>
              <a:defRPr sz="1800"/>
            </a:pPr>
            <a:r>
              <a:t>GPS, preuves, validation, KYC / litiges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0332720" cy="3474720"/>
          </a:xfrm>
          <a:prstGeom prst="rect">
            <a:avLst/>
          </a:prstGeom>
          <a:solidFill>
            <a:srgbClr val="F0F0F0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[ZONE DÉMO : capture d'écran ou live]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BlockTask prouve la faisabilité d'une plateforme hybride adaptée au Mali</a:t>
            </a:r>
          </a:p>
          <a:p>
            <a:pPr>
              <a:defRPr sz="2000"/>
            </a:pPr>
            <a:r>
              <a:t>Inclusion financière via Mobile Money + confiance institutionnelle via KYC NINA</a:t>
            </a:r>
          </a:p>
          <a:p>
            <a:pPr>
              <a:defRPr sz="2000"/>
            </a:pPr>
            <a:r>
              <a:t>Traçabilité renforcée via smart contracts lorsque l'utilisateur le souhaite</a:t>
            </a:r>
          </a:p>
          <a:p>
            <a:pPr>
              <a:defRPr sz="2000"/>
            </a:pPr>
            <a:r>
              <a:t>Ouverture vers l'UEMOA et la production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Merci de votre attention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?</a:t>
            </a:r>
          </a:p>
        </p:txBody>
      </p:sp>
      <p:pic>
        <p:nvPicPr>
          <p:cNvPr id="4" name="Picture 3" descr="logo-blocktask-ma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74320"/>
            <a:ext cx="1645920" cy="11934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